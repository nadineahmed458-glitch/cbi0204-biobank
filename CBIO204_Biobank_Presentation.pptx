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1C293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657600" cy="3657600"/>
          </a:xfrm>
          <a:prstGeom prst="ellipse">
            <a:avLst/>
          </a:prstGeom>
          <a:solidFill>
            <a:srgbClr val="16233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7040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Biobank &amp; Biospecimen </a:t>
            </a:r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relational database design to a deployed, working web application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519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45079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15+  ·  11 relations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0" y="42519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45079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cbi0204-biobank.onrender.com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55280" y="42519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55280" y="45079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Nadien Ahmed Shawky  ·  ID 221002162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2440" y="1234440"/>
            <a:ext cx="3566160" cy="2242566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92440" y="1234440"/>
            <a:ext cx="3566160" cy="310896"/>
          </a:xfrm>
          <a:prstGeom prst="roundRect">
            <a:avLst>
              <a:gd name="adj" fmla="val 26471"/>
            </a:avLst>
          </a:prstGeom>
          <a:solidFill>
            <a:srgbClr val="101827"/>
          </a:solidFill>
          <a:ln/>
        </p:spPr>
      </p:sp>
      <p:sp>
        <p:nvSpPr>
          <p:cNvPr id="16" name="Shape 14"/>
          <p:cNvSpPr/>
          <p:nvPr/>
        </p:nvSpPr>
        <p:spPr>
          <a:xfrm>
            <a:off x="8092440" y="1389888"/>
            <a:ext cx="3566160" cy="155448"/>
          </a:xfrm>
          <a:prstGeom prst="rect">
            <a:avLst/>
          </a:prstGeom>
          <a:solidFill>
            <a:srgbClr val="101827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0456" y="134874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8" name="Shape 16"/>
          <p:cNvSpPr/>
          <p:nvPr/>
        </p:nvSpPr>
        <p:spPr>
          <a:xfrm>
            <a:off x="8394192" y="134874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9" name="Shape 17"/>
          <p:cNvSpPr/>
          <p:nvPr/>
        </p:nvSpPr>
        <p:spPr>
          <a:xfrm>
            <a:off x="8567928" y="134874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0" name="Shape 18"/>
          <p:cNvSpPr/>
          <p:nvPr/>
        </p:nvSpPr>
        <p:spPr>
          <a:xfrm>
            <a:off x="8778240" y="1284732"/>
            <a:ext cx="2560320" cy="210312"/>
          </a:xfrm>
          <a:prstGeom prst="roundRect">
            <a:avLst>
              <a:gd name="adj" fmla="val 21739"/>
            </a:avLst>
          </a:prstGeom>
          <a:solidFill>
            <a:srgbClr val="1C293C"/>
          </a:solidFill>
          <a:ln/>
        </p:spPr>
      </p:sp>
      <p:sp>
        <p:nvSpPr>
          <p:cNvPr id="21" name="Text 19"/>
          <p:cNvSpPr/>
          <p:nvPr/>
        </p:nvSpPr>
        <p:spPr>
          <a:xfrm>
            <a:off x="8869680" y="128473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cbi0204-biobank.onrender.com/</a:t>
            </a:r>
            <a:endParaRPr lang="en-US" sz="950" dirty="0"/>
          </a:p>
        </p:txBody>
      </p:sp>
      <p:pic>
        <p:nvPicPr>
          <p:cNvPr id="22" name="Image 0" descr="/home/claude/shots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92440" y="1545336"/>
            <a:ext cx="3566160" cy="19316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577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realistic relational database for a biomedical biobank that tracks the full lifecycle of a biospecimen — from donor consent to laboratory result — and prove the design works end to end.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801368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34640"/>
            <a:ext cx="1801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78024" y="2834640"/>
            <a:ext cx="1801368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78024" y="2834640"/>
            <a:ext cx="1801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07408" y="2834640"/>
            <a:ext cx="1801368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7408" y="2834640"/>
            <a:ext cx="1801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465576"/>
            <a:ext cx="1801368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65576"/>
            <a:ext cx="1801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78024" y="3465576"/>
            <a:ext cx="1801368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78024" y="3465576"/>
            <a:ext cx="1801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07408" y="3465576"/>
            <a:ext cx="1801368" cy="502920"/>
          </a:xfrm>
          <a:prstGeom prst="roundRect">
            <a:avLst>
              <a:gd name="adj" fmla="val 14545"/>
            </a:avLst>
          </a:prstGeom>
          <a:solidFill>
            <a:srgbClr val="0F766E"/>
          </a:solidFill>
          <a:ln w="12700">
            <a:solidFill>
              <a:srgbClr val="E5EA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07408" y="3465576"/>
            <a:ext cx="1801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069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tracks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507992"/>
            <a:ext cx="82296" cy="822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40740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&amp; informed consent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55464"/>
            <a:ext cx="82296" cy="822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75488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events &amp; biospecimens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202936"/>
            <a:ext cx="82296" cy="822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10235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locations &amp; aliquots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550408"/>
            <a:ext cx="82296" cy="822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44982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&amp; test requests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897880"/>
            <a:ext cx="82296" cy="822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79729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usage &amp; lab results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46520" y="1371600"/>
            <a:ext cx="5166360" cy="4892040"/>
          </a:xfrm>
          <a:prstGeom prst="roundRect">
            <a:avLst>
              <a:gd name="adj" fmla="val 1869"/>
            </a:avLst>
          </a:prstGeom>
          <a:solidFill>
            <a:srgbClr val="101827"/>
          </a:solidFill>
          <a:ln/>
        </p:spPr>
      </p:sp>
      <p:sp>
        <p:nvSpPr>
          <p:cNvPr id="29" name="Text 27"/>
          <p:cNvSpPr/>
          <p:nvPr/>
        </p:nvSpPr>
        <p:spPr>
          <a:xfrm>
            <a:off x="6812280" y="16916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biobank needs strong data design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812280" y="25146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68122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52360" y="24871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452360" y="278892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aliquot must be traced back to a donor, consent record and collection event.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812280" y="374904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5" name="Text 33"/>
          <p:cNvSpPr/>
          <p:nvPr/>
        </p:nvSpPr>
        <p:spPr>
          <a:xfrm>
            <a:off x="681228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52360" y="3721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452360" y="402336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Volumes, statuses and references must never become inconsistent.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812280" y="498348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9" name="Text 37"/>
          <p:cNvSpPr/>
          <p:nvPr/>
        </p:nvSpPr>
        <p:spPr>
          <a:xfrm>
            <a:off x="681228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452360" y="49560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452360" y="525780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repeatedly draw on the same finite specimen inventory.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Biobank &amp; Biospecimen Management System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Business Rules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18488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18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5880" y="1563624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identity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25880" y="1901952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identifiers are synthetic and anonymized — no direct personal data is stored.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73368" y="1618488"/>
            <a:ext cx="384048" cy="384048"/>
          </a:xfrm>
          <a:prstGeom prst="ellipse">
            <a:avLst/>
          </a:prstGeom>
          <a:solidFill>
            <a:srgbClr val="101827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618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0" y="1563624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event, one type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49440" y="1901952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biospecimen belongs to exactly one collection event and one sample type.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27248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328416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328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327355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Divisible specimens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25880" y="361188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biospecimen may be divided into multiple aliquots for separate uses.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127248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73368" y="3328416"/>
            <a:ext cx="384048" cy="384048"/>
          </a:xfrm>
          <a:prstGeom prst="ellipse">
            <a:avLst/>
          </a:prstGeom>
          <a:solidFill>
            <a:srgbClr val="101827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3328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0" y="327355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usage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49440" y="361188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request can draw on multiple aliquots; SAMPLE_USAGE resolves the M:N relationship.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837176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5038344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038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25880" y="498348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can't be exceeded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325880" y="5321808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quantity can never exceed the remaining aliquot volume — enforced in code and in the database.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4837176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73368" y="5038344"/>
            <a:ext cx="384048" cy="384048"/>
          </a:xfrm>
          <a:prstGeom prst="ellipse">
            <a:avLst/>
          </a:prstGeom>
          <a:solidFill>
            <a:srgbClr val="101827"/>
          </a:solidFill>
          <a:ln/>
        </p:spPr>
      </p:sp>
      <p:sp>
        <p:nvSpPr>
          <p:cNvPr id="31" name="Text 29"/>
          <p:cNvSpPr/>
          <p:nvPr/>
        </p:nvSpPr>
        <p:spPr>
          <a:xfrm>
            <a:off x="6373368" y="5038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49440" y="498348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Constraint-driven integrity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949440" y="5321808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FK, UNIQUE, CHECK constraints and indexes enforce every rule above automatically.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Biobank &amp; Biospecimen Management System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Entities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relational tables, grouped by the role they play in the biospecimen lifecycle.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51760" cy="4434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2651760" cy="621792"/>
          </a:xfrm>
          <a:prstGeom prst="roundRect">
            <a:avLst>
              <a:gd name="adj" fmla="val 14706"/>
            </a:avLst>
          </a:prstGeom>
          <a:solidFill>
            <a:srgbClr val="10182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02536"/>
            <a:ext cx="2651760" cy="310896"/>
          </a:xfrm>
          <a:prstGeom prst="rect">
            <a:avLst/>
          </a:prstGeom>
          <a:solidFill>
            <a:srgbClr val="101827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691640"/>
            <a:ext cx="23225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Consent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" y="2560320"/>
            <a:ext cx="2322576" cy="932688"/>
          </a:xfrm>
          <a:prstGeom prst="roundRect">
            <a:avLst>
              <a:gd name="adj" fmla="val 6863"/>
            </a:avLst>
          </a:prstGeom>
          <a:solidFill>
            <a:srgbClr val="F4F7FB"/>
          </a:solidFill>
          <a:ln w="9525">
            <a:solidFill>
              <a:srgbClr val="E5EA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560320"/>
            <a:ext cx="206654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3232" y="3703320"/>
            <a:ext cx="2322576" cy="932688"/>
          </a:xfrm>
          <a:prstGeom prst="roundRect">
            <a:avLst>
              <a:gd name="adj" fmla="val 6863"/>
            </a:avLst>
          </a:prstGeom>
          <a:solidFill>
            <a:srgbClr val="F4F7FB"/>
          </a:solidFill>
          <a:ln w="9525">
            <a:solidFill>
              <a:srgbClr val="E5EA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703320"/>
            <a:ext cx="206654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3232" y="4846320"/>
            <a:ext cx="2322576" cy="932688"/>
          </a:xfrm>
          <a:prstGeom prst="roundRect">
            <a:avLst>
              <a:gd name="adj" fmla="val 6863"/>
            </a:avLst>
          </a:prstGeom>
          <a:solidFill>
            <a:srgbClr val="F4F7FB"/>
          </a:solidFill>
          <a:ln w="9525">
            <a:solidFill>
              <a:srgbClr val="E5EA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846320"/>
            <a:ext cx="206654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364992" y="1691640"/>
            <a:ext cx="2651760" cy="4434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64992" y="1691640"/>
            <a:ext cx="2651760" cy="621792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/>
        </p:spPr>
      </p:sp>
      <p:sp>
        <p:nvSpPr>
          <p:cNvPr id="17" name="Shape 15"/>
          <p:cNvSpPr/>
          <p:nvPr/>
        </p:nvSpPr>
        <p:spPr>
          <a:xfrm>
            <a:off x="3364992" y="2002536"/>
            <a:ext cx="2651760" cy="31089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3529584" y="1691640"/>
            <a:ext cx="23225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&amp; Sample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529584" y="2560320"/>
            <a:ext cx="2322576" cy="932688"/>
          </a:xfrm>
          <a:prstGeom prst="roundRect">
            <a:avLst>
              <a:gd name="adj" fmla="val 6863"/>
            </a:avLst>
          </a:prstGeom>
          <a:solidFill>
            <a:srgbClr val="F4F7FB"/>
          </a:solidFill>
          <a:ln w="9525">
            <a:solidFill>
              <a:srgbClr val="E5EA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2560320"/>
            <a:ext cx="206654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COLLECTION_EVENT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529584" y="3703320"/>
            <a:ext cx="2322576" cy="932688"/>
          </a:xfrm>
          <a:prstGeom prst="roundRect">
            <a:avLst>
              <a:gd name="adj" fmla="val 6863"/>
            </a:avLst>
          </a:prstGeom>
          <a:solidFill>
            <a:srgbClr val="F4F7FB"/>
          </a:solidFill>
          <a:ln w="9525">
            <a:solidFill>
              <a:srgbClr val="E5EA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3703320"/>
            <a:ext cx="206654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SAMPLE_TYPE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529584" y="4846320"/>
            <a:ext cx="2322576" cy="932688"/>
          </a:xfrm>
          <a:prstGeom prst="roundRect">
            <a:avLst>
              <a:gd name="adj" fmla="val 6863"/>
            </a:avLst>
          </a:prstGeom>
          <a:solidFill>
            <a:srgbClr val="F4F7FB"/>
          </a:solidFill>
          <a:ln w="9525">
            <a:solidFill>
              <a:srgbClr val="E5EA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4846320"/>
            <a:ext cx="206654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BIOSPECIMEN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81344" y="1691640"/>
            <a:ext cx="2651760" cy="4434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81344" y="1691640"/>
            <a:ext cx="2651760" cy="621792"/>
          </a:xfrm>
          <a:prstGeom prst="roundRect">
            <a:avLst>
              <a:gd name="adj" fmla="val 14706"/>
            </a:avLst>
          </a:prstGeom>
          <a:solidFill>
            <a:srgbClr val="334155"/>
          </a:solidFill>
          <a:ln/>
        </p:spPr>
      </p:sp>
      <p:sp>
        <p:nvSpPr>
          <p:cNvPr id="27" name="Shape 25"/>
          <p:cNvSpPr/>
          <p:nvPr/>
        </p:nvSpPr>
        <p:spPr>
          <a:xfrm>
            <a:off x="6181344" y="2002536"/>
            <a:ext cx="2651760" cy="31089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Text 26"/>
          <p:cNvSpPr/>
          <p:nvPr/>
        </p:nvSpPr>
        <p:spPr>
          <a:xfrm>
            <a:off x="6345936" y="1691640"/>
            <a:ext cx="23225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45936" y="2560320"/>
            <a:ext cx="2322576" cy="932688"/>
          </a:xfrm>
          <a:prstGeom prst="roundRect">
            <a:avLst>
              <a:gd name="adj" fmla="val 6863"/>
            </a:avLst>
          </a:prstGeom>
          <a:solidFill>
            <a:srgbClr val="F4F7FB"/>
          </a:solidFill>
          <a:ln w="9525">
            <a:solidFill>
              <a:srgbClr val="E5EA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73952" y="2560320"/>
            <a:ext cx="206654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STORAGE_LOCATION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45936" y="3703320"/>
            <a:ext cx="2322576" cy="932688"/>
          </a:xfrm>
          <a:prstGeom prst="roundRect">
            <a:avLst>
              <a:gd name="adj" fmla="val 6863"/>
            </a:avLst>
          </a:prstGeom>
          <a:solidFill>
            <a:srgbClr val="F4F7FB"/>
          </a:solidFill>
          <a:ln w="9525">
            <a:solidFill>
              <a:srgbClr val="E5EA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952" y="3703320"/>
            <a:ext cx="206654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ALIQUOT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997696" y="1691640"/>
            <a:ext cx="2651760" cy="4434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997696" y="1691640"/>
            <a:ext cx="2651760" cy="621792"/>
          </a:xfrm>
          <a:prstGeom prst="roundRect">
            <a:avLst>
              <a:gd name="adj" fmla="val 14706"/>
            </a:avLst>
          </a:prstGeom>
          <a:solidFill>
            <a:srgbClr val="0E7490"/>
          </a:solidFill>
          <a:ln/>
        </p:spPr>
      </p:sp>
      <p:sp>
        <p:nvSpPr>
          <p:cNvPr id="35" name="Shape 33"/>
          <p:cNvSpPr/>
          <p:nvPr/>
        </p:nvSpPr>
        <p:spPr>
          <a:xfrm>
            <a:off x="8997696" y="2002536"/>
            <a:ext cx="2651760" cy="31089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6" name="Text 34"/>
          <p:cNvSpPr/>
          <p:nvPr/>
        </p:nvSpPr>
        <p:spPr>
          <a:xfrm>
            <a:off x="9162288" y="1691640"/>
            <a:ext cx="23225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Workflow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162288" y="2560320"/>
            <a:ext cx="2322576" cy="932688"/>
          </a:xfrm>
          <a:prstGeom prst="roundRect">
            <a:avLst>
              <a:gd name="adj" fmla="val 6863"/>
            </a:avLst>
          </a:prstGeom>
          <a:solidFill>
            <a:srgbClr val="F4F7FB"/>
          </a:solidFill>
          <a:ln w="9525">
            <a:solidFill>
              <a:srgbClr val="E5EA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90304" y="2560320"/>
            <a:ext cx="206654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TEST_REQUEST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9162288" y="3703320"/>
            <a:ext cx="2322576" cy="932688"/>
          </a:xfrm>
          <a:prstGeom prst="roundRect">
            <a:avLst>
              <a:gd name="adj" fmla="val 6863"/>
            </a:avLst>
          </a:prstGeom>
          <a:solidFill>
            <a:srgbClr val="F4F7FB"/>
          </a:solidFill>
          <a:ln w="9525">
            <a:solidFill>
              <a:srgbClr val="E5EA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90304" y="3703320"/>
            <a:ext cx="206654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SAMPLE_USAGE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9162288" y="4846320"/>
            <a:ext cx="2322576" cy="932688"/>
          </a:xfrm>
          <a:prstGeom prst="roundRect">
            <a:avLst>
              <a:gd name="adj" fmla="val 6863"/>
            </a:avLst>
          </a:prstGeom>
          <a:solidFill>
            <a:srgbClr val="F4F7FB"/>
          </a:solidFill>
          <a:ln w="9525">
            <a:solidFill>
              <a:srgbClr val="E5EA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90304" y="4846320"/>
            <a:ext cx="206654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SAMPLE_TEST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Biobank &amp; Biospecimen Management System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Design &amp; Cardinality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0" y="16276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6FBF6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0" y="1627632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0" y="1508760"/>
            <a:ext cx="5806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945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0" y="23134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6FBF6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2313432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0" y="2194560"/>
            <a:ext cx="5806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COLLECTION_EVENT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803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COLLECTION_EVENT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06240" y="2999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6FBF6"/>
          </a:solidFill>
          <a:ln/>
        </p:spPr>
      </p:sp>
      <p:sp>
        <p:nvSpPr>
          <p:cNvPr id="17" name="Text 15"/>
          <p:cNvSpPr/>
          <p:nvPr/>
        </p:nvSpPr>
        <p:spPr>
          <a:xfrm>
            <a:off x="4206240" y="2999232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2880360"/>
            <a:ext cx="5806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BIOSPECIMEN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5661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SAMPLE_TYPE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06240" y="36850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6FBF6"/>
          </a:solidFill>
          <a:ln/>
        </p:spPr>
      </p:sp>
      <p:sp>
        <p:nvSpPr>
          <p:cNvPr id="22" name="Text 20"/>
          <p:cNvSpPr/>
          <p:nvPr/>
        </p:nvSpPr>
        <p:spPr>
          <a:xfrm>
            <a:off x="4206240" y="3685032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3566160"/>
            <a:ext cx="5806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BIOSPECIMEN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251960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2519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BIOSPECIMEN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06240" y="43708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6FBF6"/>
          </a:solidFill>
          <a:ln/>
        </p:spPr>
      </p:sp>
      <p:sp>
        <p:nvSpPr>
          <p:cNvPr id="27" name="Text 25"/>
          <p:cNvSpPr/>
          <p:nvPr/>
        </p:nvSpPr>
        <p:spPr>
          <a:xfrm>
            <a:off x="4206240" y="4370832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4251960"/>
            <a:ext cx="5806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ALIQUOT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937760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9377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206240" y="50566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6FBF6"/>
          </a:solidFill>
          <a:ln/>
        </p:spPr>
      </p:sp>
      <p:sp>
        <p:nvSpPr>
          <p:cNvPr id="32" name="Text 30"/>
          <p:cNvSpPr/>
          <p:nvPr/>
        </p:nvSpPr>
        <p:spPr>
          <a:xfrm>
            <a:off x="4206240" y="5056632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0" y="4937760"/>
            <a:ext cx="5806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TEST_REQUEST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5623560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6235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TEST_REQUEST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206240" y="57424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37" name="Text 35"/>
          <p:cNvSpPr/>
          <p:nvPr/>
        </p:nvSpPr>
        <p:spPr>
          <a:xfrm>
            <a:off x="4206240" y="5742432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: 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0" y="5623560"/>
            <a:ext cx="5806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ALIQUOT  (resolved by SAMPLE_USAGE)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Biobank &amp; Biospecimen Management System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ER Diagram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6">
                <a:alpha val="10000"/>
              </a:srgbClr>
            </a:outerShdw>
          </a:effectLst>
        </p:spPr>
      </p:sp>
      <p:pic>
        <p:nvPicPr>
          <p:cNvPr id="5" name="Image 0" descr="/home/claude/orig_pptx/ppt/media/image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554480"/>
            <a:ext cx="1060704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Biobank &amp; Biospecimen Management System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Schema &amp; 3NF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relation carries a clear primary key and foreign keys to its parent entities.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476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1NF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441448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attributes, no repeating groups.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17830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9476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2NF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80560" y="2441448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Relationship-specific attributes are stored with the complete relationship key.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17830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101827"/>
          </a:solidFill>
          <a:ln/>
        </p:spPr>
      </p:sp>
      <p:sp>
        <p:nvSpPr>
          <p:cNvPr id="12" name="Text 10"/>
          <p:cNvSpPr/>
          <p:nvPr/>
        </p:nvSpPr>
        <p:spPr>
          <a:xfrm>
            <a:off x="8183880" y="19476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83880" y="2441448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and descriptive facts are separated to remove transitive dependencies.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110642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63040" y="41148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the many-to-many relationship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526280"/>
            <a:ext cx="9784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SAMPLE_USAGE sits between TEST_REQUEST and ALIQUOT, turning the M:N relationship into two clean 1:N relationships. It carries its own attributes — usage_date, quantity_used_ml and result_summary — which belong to the usage event itself, not to either parent table. This is the textbook 3NF resolution taught in CBIO204, and it is exactly what the SAMPLE_USAGE screen in the live application implements (see slide 17).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Biobank &amp; Biospecimen Management System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&amp; Tech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8132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0848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tables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48132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91840" y="20848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records / table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48132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035040" y="20848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categories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78240" y="137160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78240" y="148132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778240" y="20848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/ FK / CHECK coverage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7889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255264"/>
            <a:ext cx="73152" cy="731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15+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12464"/>
            <a:ext cx="73152" cy="731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611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/ FK, UNIQUE and CHECK constraints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69664"/>
            <a:ext cx="73152" cy="731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069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on lookup and join columns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626864"/>
            <a:ext cx="73152" cy="731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split by concern: create_tables, load_data, queries, views, triggers/procedures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27889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 (bonus)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09360" y="3255264"/>
            <a:ext cx="73152" cy="73152"/>
          </a:xfrm>
          <a:prstGeom prst="ellipse">
            <a:avLst/>
          </a:prstGeom>
          <a:solidFill>
            <a:srgbClr val="101827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3154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(standard-library HTTP server) backend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3712464"/>
            <a:ext cx="73152" cy="73152"/>
          </a:xfrm>
          <a:prstGeom prst="ellipse">
            <a:avLst/>
          </a:prstGeom>
          <a:solidFill>
            <a:srgbClr val="101827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3611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storage layer for the live demo build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4169664"/>
            <a:ext cx="73152" cy="73152"/>
          </a:xfrm>
          <a:prstGeom prst="ellipse">
            <a:avLst/>
          </a:prstGeom>
          <a:solidFill>
            <a:srgbClr val="101827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4069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 HTML views — no framework dependency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9360" y="4626864"/>
            <a:ext cx="73152" cy="73152"/>
          </a:xfrm>
          <a:prstGeom prst="ellipse">
            <a:avLst/>
          </a:prstGeom>
          <a:solidFill>
            <a:srgbClr val="101827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4526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publicly on Render: cbi0204-biobank.onrender.com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6FBF6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classroom deliverable targets PostgreSQL 15+; the public Render demo uses the same schema and rules on SQLite so reviewers can try it from a browser with zero setup.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Biobank &amp; Biospecimen Management System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Operations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101827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59105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1965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286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retrieval of available specimens by status and type.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25112" y="14630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101827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59105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26280" y="1965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26280" y="2286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joins across donor, sample and storage information.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01584" y="14630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101827"/>
          </a:solidFill>
          <a:ln/>
        </p:spPr>
      </p:sp>
      <p:sp>
        <p:nvSpPr>
          <p:cNvPr id="13" name="Text 11"/>
          <p:cNvSpPr/>
          <p:nvPr/>
        </p:nvSpPr>
        <p:spPr>
          <a:xfrm>
            <a:off x="8302752" y="159105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02752" y="1965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02752" y="2286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by sample type and by researcher.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101827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23697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3611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9808" y="3931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queries for business questions that need a two-step filter.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25112" y="310896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101827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323697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26280" y="3611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changes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26280" y="3931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UPDATE and DELETE examples against the live schema.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01584" y="310896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101827"/>
          </a:solidFill>
          <a:ln/>
        </p:spPr>
      </p:sp>
      <p:sp>
        <p:nvSpPr>
          <p:cNvPr id="25" name="Text 23"/>
          <p:cNvSpPr/>
          <p:nvPr/>
        </p:nvSpPr>
        <p:spPr>
          <a:xfrm>
            <a:off x="8302752" y="323697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02752" y="3611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queries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302752" y="3931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and consent-status queries written for real biobank questions.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Biobank &amp; Biospecimen Management System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Views &amp; Advanced Database Objects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1848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6FB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1848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98424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v_sample_inventory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Donor, sample type, status, aliquot count and remaining aliquot volume in one queryable view.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61848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6FBF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61848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0" y="198424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v_research_activity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0" y="237744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Per-researcher request count, usage count and total volume used.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13308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3308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7240" y="449884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trg_validate_sample_usage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489204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requested volume against the aliquot's remaining volume and updates it automatically — the same rule the live app enforces (see slide 17).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413308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0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13308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0" y="449884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fn_donor_sample_count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00800" y="489204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single donor's biospecimen count on demand.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Biobank &amp; Biospecimen Management System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VERIFICATION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Integrity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934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codes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97510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75104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constraints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5112" y="14630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60934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values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07992" y="197510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07992" y="1975104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07992" y="23774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constraints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01584" y="14630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84464" y="160934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references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84464" y="197510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84464" y="1975104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84464" y="23774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25526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usage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362102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621024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0233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Aliquot volume decreases correctly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25112" y="310896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7992" y="325526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usage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07992" y="362102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507992" y="3621024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07992" y="40233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raises an exception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01584" y="310896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84464" y="325526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&amp; scripts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284464" y="362102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84464" y="3621024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84464" y="40233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clean on a fresh database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Biobank &amp; Biospecimen Management System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C293C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291840"/>
            <a:ext cx="5029200" cy="5029200"/>
          </a:xfrm>
          <a:prstGeom prst="ellipse">
            <a:avLst/>
          </a:prstGeom>
          <a:solidFill>
            <a:srgbClr val="16233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· BEYOND THE ASSIGNMENT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Schema to Software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isn't just a diagram — it's deployed. Every screen below is a live screenshot of the working application, backed by the same entities, keys and business rules from the sections above.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4572000" cy="502920"/>
          </a:xfrm>
          <a:prstGeom prst="roundRect">
            <a:avLst>
              <a:gd name="adj" fmla="val 50909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6177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cbi0204-biobank.onrender.com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LIVE APPLICATION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6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1965960" cy="1005840"/>
          </a:xfrm>
          <a:prstGeom prst="roundRect">
            <a:avLst>
              <a:gd name="adj" fmla="val 8182"/>
            </a:avLst>
          </a:prstGeom>
          <a:solidFill>
            <a:srgbClr val="0F766E"/>
          </a:solidFill>
          <a:ln/>
        </p:spPr>
      </p:sp>
      <p:sp>
        <p:nvSpPr>
          <p:cNvPr id="6" name="Shape 4"/>
          <p:cNvSpPr/>
          <p:nvPr/>
        </p:nvSpPr>
        <p:spPr>
          <a:xfrm>
            <a:off x="2432304" y="1417320"/>
            <a:ext cx="82296" cy="10058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697480" y="154533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 HTML + CSS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697480" y="19202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 sidebar layout, generated per-request — no client build step needed.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587752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6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587752"/>
            <a:ext cx="1965960" cy="1005840"/>
          </a:xfrm>
          <a:prstGeom prst="roundRect">
            <a:avLst>
              <a:gd name="adj" fmla="val 8182"/>
            </a:avLst>
          </a:prstGeom>
          <a:solidFill>
            <a:srgbClr val="0F766E"/>
          </a:solidFill>
          <a:ln/>
        </p:spPr>
      </p:sp>
      <p:sp>
        <p:nvSpPr>
          <p:cNvPr id="12" name="Shape 10"/>
          <p:cNvSpPr/>
          <p:nvPr/>
        </p:nvSpPr>
        <p:spPr>
          <a:xfrm>
            <a:off x="2432304" y="2587752"/>
            <a:ext cx="82296" cy="10058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587752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697480" y="271576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(http.server)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697480" y="309067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request handler routes GET/POST calls straight onto SQL statements.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58184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6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58184"/>
            <a:ext cx="1965960" cy="1005840"/>
          </a:xfrm>
          <a:prstGeom prst="roundRect">
            <a:avLst>
              <a:gd name="adj" fmla="val 8182"/>
            </a:avLst>
          </a:prstGeom>
          <a:solidFill>
            <a:srgbClr val="0F766E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2304" y="3758184"/>
            <a:ext cx="82296" cy="10058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758184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697480" y="3886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(demo) / PostgreSQL (course build)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697480" y="4261104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schema, same constraints — donor → consent → collection → biospecimen → aliquot → usage.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928616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6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928616"/>
            <a:ext cx="1965960" cy="1005840"/>
          </a:xfrm>
          <a:prstGeom prst="roundRect">
            <a:avLst>
              <a:gd name="adj" fmla="val 8182"/>
            </a:avLst>
          </a:prstGeom>
          <a:solidFill>
            <a:srgbClr val="0F766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32304" y="4928616"/>
            <a:ext cx="82296" cy="10058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928616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697480" y="50566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Web Service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697480" y="5431536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PORT env variable, binds 0.0.0.0, health-checked at “/” — publicly reachable 24/7.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Biobank &amp; Biospecimen Management System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LIVE APPLICATION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list and register donors — backed directly by the DONOR table with server-side validation on required fields.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492240" cy="3827526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6492240" cy="310896"/>
          </a:xfrm>
          <a:prstGeom prst="roundRect">
            <a:avLst>
              <a:gd name="adj" fmla="val 26471"/>
            </a:avLst>
          </a:prstGeom>
          <a:solidFill>
            <a:srgbClr val="10182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755648"/>
            <a:ext cx="6492240" cy="155448"/>
          </a:xfrm>
          <a:prstGeom prst="rect">
            <a:avLst/>
          </a:prstGeom>
          <a:solidFill>
            <a:srgbClr val="101827"/>
          </a:solidFill>
          <a:ln/>
        </p:spPr>
      </p:sp>
      <p:sp>
        <p:nvSpPr>
          <p:cNvPr id="8" name="Shape 6"/>
          <p:cNvSpPr/>
          <p:nvPr/>
        </p:nvSpPr>
        <p:spPr>
          <a:xfrm>
            <a:off x="676656" y="171450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850392" y="171450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24128" y="171450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234440" y="1650492"/>
            <a:ext cx="5486400" cy="210312"/>
          </a:xfrm>
          <a:prstGeom prst="roundRect">
            <a:avLst>
              <a:gd name="adj" fmla="val 21739"/>
            </a:avLst>
          </a:prstGeom>
          <a:solidFill>
            <a:srgbClr val="1C293C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1650492"/>
            <a:ext cx="5303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cbi0204-biobank.onrender.com/donors</a:t>
            </a:r>
            <a:endParaRPr lang="en-US" sz="950" dirty="0"/>
          </a:p>
        </p:txBody>
      </p:sp>
      <p:pic>
        <p:nvPicPr>
          <p:cNvPr id="13" name="Image 0" descr="/home/claude/shots/dono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911096"/>
            <a:ext cx="6492240" cy="351663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315200" y="1600200"/>
            <a:ext cx="4297680" cy="1832991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315200" y="1600200"/>
            <a:ext cx="4297680" cy="310896"/>
          </a:xfrm>
          <a:prstGeom prst="roundRect">
            <a:avLst>
              <a:gd name="adj" fmla="val 26471"/>
            </a:avLst>
          </a:prstGeom>
          <a:solidFill>
            <a:srgbClr val="101827"/>
          </a:solidFill>
          <a:ln/>
        </p:spPr>
      </p:sp>
      <p:sp>
        <p:nvSpPr>
          <p:cNvPr id="16" name="Shape 13"/>
          <p:cNvSpPr/>
          <p:nvPr/>
        </p:nvSpPr>
        <p:spPr>
          <a:xfrm>
            <a:off x="7315200" y="1755648"/>
            <a:ext cx="4297680" cy="155448"/>
          </a:xfrm>
          <a:prstGeom prst="rect">
            <a:avLst/>
          </a:prstGeom>
          <a:solidFill>
            <a:srgbClr val="101827"/>
          </a:solidFill>
          <a:ln/>
        </p:spPr>
      </p:sp>
      <p:sp>
        <p:nvSpPr>
          <p:cNvPr id="17" name="Shape 14"/>
          <p:cNvSpPr/>
          <p:nvPr/>
        </p:nvSpPr>
        <p:spPr>
          <a:xfrm>
            <a:off x="7443216" y="171450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8" name="Shape 15"/>
          <p:cNvSpPr/>
          <p:nvPr/>
        </p:nvSpPr>
        <p:spPr>
          <a:xfrm>
            <a:off x="7616952" y="171450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9" name="Shape 16"/>
          <p:cNvSpPr/>
          <p:nvPr/>
        </p:nvSpPr>
        <p:spPr>
          <a:xfrm>
            <a:off x="7790688" y="171450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0" name="Shape 17"/>
          <p:cNvSpPr/>
          <p:nvPr/>
        </p:nvSpPr>
        <p:spPr>
          <a:xfrm>
            <a:off x="8001000" y="1650492"/>
            <a:ext cx="3291840" cy="210312"/>
          </a:xfrm>
          <a:prstGeom prst="roundRect">
            <a:avLst>
              <a:gd name="adj" fmla="val 21739"/>
            </a:avLst>
          </a:prstGeom>
          <a:solidFill>
            <a:srgbClr val="1C293C"/>
          </a:solidFill>
          <a:ln/>
        </p:spPr>
      </p:sp>
      <p:sp>
        <p:nvSpPr>
          <p:cNvPr id="21" name="Text 18"/>
          <p:cNvSpPr/>
          <p:nvPr/>
        </p:nvSpPr>
        <p:spPr>
          <a:xfrm>
            <a:off x="8092440" y="1650492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cbi0204-biobank.onrender.com/donors/new</a:t>
            </a:r>
            <a:endParaRPr lang="en-US" sz="950" dirty="0"/>
          </a:p>
        </p:txBody>
      </p:sp>
      <p:pic>
        <p:nvPicPr>
          <p:cNvPr id="22" name="Image 1" descr="/home/claude/shots/donor_for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15200" y="1911096"/>
            <a:ext cx="4297680" cy="152209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Biobank &amp; Biospecimen Management System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LIVE APPLICATION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&amp; Aliquot Inventory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BIOSPECIMEN and ALIQUOT records, joined live with donor and storage-location data — freezer, shelf, box and temperature for every aliquot.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2708656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5394960" cy="310896"/>
          </a:xfrm>
          <a:prstGeom prst="roundRect">
            <a:avLst>
              <a:gd name="adj" fmla="val 26471"/>
            </a:avLst>
          </a:prstGeom>
          <a:solidFill>
            <a:srgbClr val="10182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47088"/>
            <a:ext cx="5394960" cy="155448"/>
          </a:xfrm>
          <a:prstGeom prst="rect">
            <a:avLst/>
          </a:prstGeom>
          <a:solidFill>
            <a:srgbClr val="101827"/>
          </a:solidFill>
          <a:ln/>
        </p:spPr>
      </p:sp>
      <p:sp>
        <p:nvSpPr>
          <p:cNvPr id="8" name="Shape 6"/>
          <p:cNvSpPr/>
          <p:nvPr/>
        </p:nvSpPr>
        <p:spPr>
          <a:xfrm>
            <a:off x="676656" y="180594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850392" y="180594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24128" y="180594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234440" y="1741932"/>
            <a:ext cx="4389120" cy="210312"/>
          </a:xfrm>
          <a:prstGeom prst="roundRect">
            <a:avLst>
              <a:gd name="adj" fmla="val 21739"/>
            </a:avLst>
          </a:prstGeom>
          <a:solidFill>
            <a:srgbClr val="1C293C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1741932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cbi0204-biobank.onrender.com/samples</a:t>
            </a:r>
            <a:endParaRPr lang="en-US" sz="950" dirty="0"/>
          </a:p>
        </p:txBody>
      </p:sp>
      <p:pic>
        <p:nvPicPr>
          <p:cNvPr id="13" name="Image 0" descr="/home/claude/shots/samp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002536"/>
            <a:ext cx="5394960" cy="239776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245352" y="1691640"/>
            <a:ext cx="5394960" cy="2446401"/>
          </a:xfrm>
          <a:prstGeom prst="roundRect">
            <a:avLst>
              <a:gd name="adj" fmla="val 3364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45352" y="1691640"/>
            <a:ext cx="5394960" cy="310896"/>
          </a:xfrm>
          <a:prstGeom prst="roundRect">
            <a:avLst>
              <a:gd name="adj" fmla="val 26471"/>
            </a:avLst>
          </a:prstGeom>
          <a:solidFill>
            <a:srgbClr val="101827"/>
          </a:solidFill>
          <a:ln/>
        </p:spPr>
      </p:sp>
      <p:sp>
        <p:nvSpPr>
          <p:cNvPr id="16" name="Shape 13"/>
          <p:cNvSpPr/>
          <p:nvPr/>
        </p:nvSpPr>
        <p:spPr>
          <a:xfrm>
            <a:off x="6245352" y="1847088"/>
            <a:ext cx="5394960" cy="155448"/>
          </a:xfrm>
          <a:prstGeom prst="rect">
            <a:avLst/>
          </a:prstGeom>
          <a:solidFill>
            <a:srgbClr val="101827"/>
          </a:solidFill>
          <a:ln/>
        </p:spPr>
      </p:sp>
      <p:sp>
        <p:nvSpPr>
          <p:cNvPr id="17" name="Shape 14"/>
          <p:cNvSpPr/>
          <p:nvPr/>
        </p:nvSpPr>
        <p:spPr>
          <a:xfrm>
            <a:off x="6373368" y="180594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8" name="Shape 15"/>
          <p:cNvSpPr/>
          <p:nvPr/>
        </p:nvSpPr>
        <p:spPr>
          <a:xfrm>
            <a:off x="6547104" y="180594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9" name="Shape 16"/>
          <p:cNvSpPr/>
          <p:nvPr/>
        </p:nvSpPr>
        <p:spPr>
          <a:xfrm>
            <a:off x="6720840" y="180594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0" name="Shape 17"/>
          <p:cNvSpPr/>
          <p:nvPr/>
        </p:nvSpPr>
        <p:spPr>
          <a:xfrm>
            <a:off x="6931152" y="1741932"/>
            <a:ext cx="4389120" cy="210312"/>
          </a:xfrm>
          <a:prstGeom prst="roundRect">
            <a:avLst>
              <a:gd name="adj" fmla="val 21739"/>
            </a:avLst>
          </a:prstGeom>
          <a:solidFill>
            <a:srgbClr val="1C293C"/>
          </a:solidFill>
          <a:ln/>
        </p:spPr>
      </p:sp>
      <p:sp>
        <p:nvSpPr>
          <p:cNvPr id="21" name="Text 18"/>
          <p:cNvSpPr/>
          <p:nvPr/>
        </p:nvSpPr>
        <p:spPr>
          <a:xfrm>
            <a:off x="7022592" y="1741932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cbi0204-biobank.onrender.com/aliquots</a:t>
            </a:r>
            <a:endParaRPr lang="en-US" sz="950" dirty="0"/>
          </a:p>
        </p:txBody>
      </p:sp>
      <p:pic>
        <p:nvPicPr>
          <p:cNvPr id="22" name="Image 1" descr="/home/claude/shots/aliquot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45352" y="2002536"/>
            <a:ext cx="5394960" cy="213550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Biobank &amp; Biospecimen Management System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LIVE APPLICATION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Workflow — Test Requests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submit test requests with a purpose and priority; each request is the anchor for the SAMPLE_USAGE and SAMPLE_TEST records that follow 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508760" y="1645920"/>
            <a:ext cx="9144000" cy="4247896"/>
          </a:xfrm>
          <a:prstGeom prst="roundRect">
            <a:avLst>
              <a:gd name="adj" fmla="val 1937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8760" y="1645920"/>
            <a:ext cx="9144000" cy="310896"/>
          </a:xfrm>
          <a:prstGeom prst="roundRect">
            <a:avLst>
              <a:gd name="adj" fmla="val 26471"/>
            </a:avLst>
          </a:prstGeom>
          <a:solidFill>
            <a:srgbClr val="101827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1801368"/>
            <a:ext cx="9144000" cy="155448"/>
          </a:xfrm>
          <a:prstGeom prst="rect">
            <a:avLst/>
          </a:prstGeom>
          <a:solidFill>
            <a:srgbClr val="101827"/>
          </a:solidFill>
          <a:ln/>
        </p:spPr>
      </p:sp>
      <p:sp>
        <p:nvSpPr>
          <p:cNvPr id="8" name="Shape 6"/>
          <p:cNvSpPr/>
          <p:nvPr/>
        </p:nvSpPr>
        <p:spPr>
          <a:xfrm>
            <a:off x="1636776" y="176022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810512" y="176022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984248" y="176022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2194560" y="1696212"/>
            <a:ext cx="8138160" cy="210312"/>
          </a:xfrm>
          <a:prstGeom prst="roundRect">
            <a:avLst>
              <a:gd name="adj" fmla="val 21739"/>
            </a:avLst>
          </a:prstGeom>
          <a:solidFill>
            <a:srgbClr val="1C293C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1696212"/>
            <a:ext cx="7955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cbi0204-biobank.onrender.com/requests</a:t>
            </a:r>
            <a:endParaRPr lang="en-US" sz="950" dirty="0"/>
          </a:p>
        </p:txBody>
      </p:sp>
      <p:pic>
        <p:nvPicPr>
          <p:cNvPr id="13" name="Image 0" descr="/home/claude/shots/reques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08760" y="1956816"/>
            <a:ext cx="9144000" cy="3937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Biobank &amp; Biospecimen Management System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LIVE APPLICATION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Rules, Enforced Live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trg_validate_sample_usage rule from slide 10 runs in the application layer: recording usage deducts the aliquot volume automatically, and an over-volume request is rejected with a clear error.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USAGE — ACCEPTED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5349240" cy="1351026"/>
          </a:xfrm>
          <a:prstGeom prst="roundRect">
            <a:avLst>
              <a:gd name="adj" fmla="val 6091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84832"/>
            <a:ext cx="5349240" cy="310896"/>
          </a:xfrm>
          <a:prstGeom prst="roundRect">
            <a:avLst>
              <a:gd name="adj" fmla="val 26471"/>
            </a:avLst>
          </a:prstGeom>
          <a:solidFill>
            <a:srgbClr val="101827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240280"/>
            <a:ext cx="5349240" cy="155448"/>
          </a:xfrm>
          <a:prstGeom prst="rect">
            <a:avLst/>
          </a:prstGeom>
          <a:solidFill>
            <a:srgbClr val="101827"/>
          </a:solidFill>
          <a:ln/>
        </p:spPr>
      </p:sp>
      <p:sp>
        <p:nvSpPr>
          <p:cNvPr id="9" name="Shape 7"/>
          <p:cNvSpPr/>
          <p:nvPr/>
        </p:nvSpPr>
        <p:spPr>
          <a:xfrm>
            <a:off x="676656" y="2199132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8"/>
          <p:cNvSpPr/>
          <p:nvPr/>
        </p:nvSpPr>
        <p:spPr>
          <a:xfrm>
            <a:off x="850392" y="2199132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9"/>
          <p:cNvSpPr/>
          <p:nvPr/>
        </p:nvSpPr>
        <p:spPr>
          <a:xfrm>
            <a:off x="1024128" y="2199132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Shape 10"/>
          <p:cNvSpPr/>
          <p:nvPr/>
        </p:nvSpPr>
        <p:spPr>
          <a:xfrm>
            <a:off x="1234440" y="2135124"/>
            <a:ext cx="4343400" cy="210312"/>
          </a:xfrm>
          <a:prstGeom prst="roundRect">
            <a:avLst>
              <a:gd name="adj" fmla="val 21739"/>
            </a:avLst>
          </a:prstGeom>
          <a:solidFill>
            <a:srgbClr val="1C293C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2135124"/>
            <a:ext cx="4160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cbi0204-biobank.onrender.com/usage</a:t>
            </a:r>
            <a:endParaRPr lang="en-US" sz="950" dirty="0"/>
          </a:p>
        </p:txBody>
      </p:sp>
      <p:pic>
        <p:nvPicPr>
          <p:cNvPr id="14" name="Image 0" descr="/home/claude/shots/us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395728"/>
            <a:ext cx="5349240" cy="104013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263640" y="178308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OVER-VOLUME USAGE — BLOCKED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63640" y="2084832"/>
            <a:ext cx="5349240" cy="1128141"/>
          </a:xfrm>
          <a:prstGeom prst="roundRect">
            <a:avLst>
              <a:gd name="adj" fmla="val 7295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63640" y="2084832"/>
            <a:ext cx="5349240" cy="310896"/>
          </a:xfrm>
          <a:prstGeom prst="roundRect">
            <a:avLst>
              <a:gd name="adj" fmla="val 26471"/>
            </a:avLst>
          </a:prstGeom>
          <a:solidFill>
            <a:srgbClr val="1018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63640" y="2240280"/>
            <a:ext cx="5349240" cy="155448"/>
          </a:xfrm>
          <a:prstGeom prst="rect">
            <a:avLst/>
          </a:prstGeom>
          <a:solidFill>
            <a:srgbClr val="101827"/>
          </a:solidFill>
          <a:ln/>
        </p:spPr>
      </p:sp>
      <p:sp>
        <p:nvSpPr>
          <p:cNvPr id="19" name="Shape 16"/>
          <p:cNvSpPr/>
          <p:nvPr/>
        </p:nvSpPr>
        <p:spPr>
          <a:xfrm>
            <a:off x="6391656" y="2199132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0" name="Shape 17"/>
          <p:cNvSpPr/>
          <p:nvPr/>
        </p:nvSpPr>
        <p:spPr>
          <a:xfrm>
            <a:off x="6565392" y="2199132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1" name="Shape 18"/>
          <p:cNvSpPr/>
          <p:nvPr/>
        </p:nvSpPr>
        <p:spPr>
          <a:xfrm>
            <a:off x="6739128" y="2199132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2" name="Shape 19"/>
          <p:cNvSpPr/>
          <p:nvPr/>
        </p:nvSpPr>
        <p:spPr>
          <a:xfrm>
            <a:off x="6949440" y="2135124"/>
            <a:ext cx="4343400" cy="210312"/>
          </a:xfrm>
          <a:prstGeom prst="roundRect">
            <a:avLst>
              <a:gd name="adj" fmla="val 21739"/>
            </a:avLst>
          </a:prstGeom>
          <a:solidFill>
            <a:srgbClr val="1C293C"/>
          </a:solidFill>
          <a:ln/>
        </p:spPr>
      </p:sp>
      <p:sp>
        <p:nvSpPr>
          <p:cNvPr id="23" name="Text 20"/>
          <p:cNvSpPr/>
          <p:nvPr/>
        </p:nvSpPr>
        <p:spPr>
          <a:xfrm>
            <a:off x="7040880" y="2135124"/>
            <a:ext cx="4160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cbi0204-biobank.onrender.com/usage/new</a:t>
            </a:r>
            <a:endParaRPr lang="en-US" sz="950" dirty="0"/>
          </a:p>
        </p:txBody>
      </p:sp>
      <p:pic>
        <p:nvPicPr>
          <p:cNvPr id="24" name="Image 1" descr="/home/claude/shots/validation_erro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2395728"/>
            <a:ext cx="5349240" cy="817245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22960" y="4864608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“Usage 99.00 mL exceeds available aliquot volume 3.00 mL.”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822960" y="523036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message returned when a request would deplete more than an aliquot actually holds — the application refuses the write instead of leaving inconsistent data, mirroring the trigger's behaviour at the database layer.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Biobank &amp; Biospecimen Management System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LIVE APPLICATION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Results &amp; Inventory 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SAMPLE_TEST results feed back onto the specimen, and the inventory screen aggregates everything — donor, type, quality, status, aliquot count and remaining volume — in one queryable view.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RESULTS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075688"/>
            <a:ext cx="7315200" cy="1733296"/>
          </a:xfrm>
          <a:prstGeom prst="roundRect">
            <a:avLst>
              <a:gd name="adj" fmla="val 4748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75688"/>
            <a:ext cx="7315200" cy="310896"/>
          </a:xfrm>
          <a:prstGeom prst="roundRect">
            <a:avLst>
              <a:gd name="adj" fmla="val 26471"/>
            </a:avLst>
          </a:prstGeom>
          <a:solidFill>
            <a:srgbClr val="101827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231136"/>
            <a:ext cx="7315200" cy="155448"/>
          </a:xfrm>
          <a:prstGeom prst="rect">
            <a:avLst/>
          </a:prstGeom>
          <a:solidFill>
            <a:srgbClr val="101827"/>
          </a:solidFill>
          <a:ln/>
        </p:spPr>
      </p:sp>
      <p:sp>
        <p:nvSpPr>
          <p:cNvPr id="9" name="Shape 7"/>
          <p:cNvSpPr/>
          <p:nvPr/>
        </p:nvSpPr>
        <p:spPr>
          <a:xfrm>
            <a:off x="676656" y="2189988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8"/>
          <p:cNvSpPr/>
          <p:nvPr/>
        </p:nvSpPr>
        <p:spPr>
          <a:xfrm>
            <a:off x="850392" y="2189988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9"/>
          <p:cNvSpPr/>
          <p:nvPr/>
        </p:nvSpPr>
        <p:spPr>
          <a:xfrm>
            <a:off x="1024128" y="2189988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Shape 10"/>
          <p:cNvSpPr/>
          <p:nvPr/>
        </p:nvSpPr>
        <p:spPr>
          <a:xfrm>
            <a:off x="1234440" y="2125980"/>
            <a:ext cx="6309360" cy="210312"/>
          </a:xfrm>
          <a:prstGeom prst="roundRect">
            <a:avLst>
              <a:gd name="adj" fmla="val 21739"/>
            </a:avLst>
          </a:prstGeom>
          <a:solidFill>
            <a:srgbClr val="1C293C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2125980"/>
            <a:ext cx="6126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cbi0204-biobank.onrender.com/tests</a:t>
            </a:r>
            <a:endParaRPr lang="en-US" sz="950" dirty="0"/>
          </a:p>
        </p:txBody>
      </p:sp>
      <p:pic>
        <p:nvPicPr>
          <p:cNvPr id="14" name="Image 0" descr="/home/claude/shots/tes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386584"/>
            <a:ext cx="7315200" cy="14224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48640" y="40833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VIEW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4375912"/>
            <a:ext cx="8778240" cy="1712976"/>
          </a:xfrm>
          <a:prstGeom prst="roundRect">
            <a:avLst>
              <a:gd name="adj" fmla="val 4804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6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4375912"/>
            <a:ext cx="8778240" cy="310896"/>
          </a:xfrm>
          <a:prstGeom prst="roundRect">
            <a:avLst>
              <a:gd name="adj" fmla="val 26471"/>
            </a:avLst>
          </a:prstGeom>
          <a:solidFill>
            <a:srgbClr val="101827"/>
          </a:solidFill>
          <a:ln/>
        </p:spPr>
      </p:sp>
      <p:sp>
        <p:nvSpPr>
          <p:cNvPr id="18" name="Shape 15"/>
          <p:cNvSpPr/>
          <p:nvPr/>
        </p:nvSpPr>
        <p:spPr>
          <a:xfrm>
            <a:off x="548640" y="4531360"/>
            <a:ext cx="8778240" cy="155448"/>
          </a:xfrm>
          <a:prstGeom prst="rect">
            <a:avLst/>
          </a:prstGeom>
          <a:solidFill>
            <a:srgbClr val="101827"/>
          </a:solidFill>
          <a:ln/>
        </p:spPr>
      </p:sp>
      <p:sp>
        <p:nvSpPr>
          <p:cNvPr id="19" name="Shape 16"/>
          <p:cNvSpPr/>
          <p:nvPr/>
        </p:nvSpPr>
        <p:spPr>
          <a:xfrm>
            <a:off x="676656" y="4490212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0" name="Shape 17"/>
          <p:cNvSpPr/>
          <p:nvPr/>
        </p:nvSpPr>
        <p:spPr>
          <a:xfrm>
            <a:off x="850392" y="4490212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1" name="Shape 18"/>
          <p:cNvSpPr/>
          <p:nvPr/>
        </p:nvSpPr>
        <p:spPr>
          <a:xfrm>
            <a:off x="1024128" y="4490212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2" name="Shape 19"/>
          <p:cNvSpPr/>
          <p:nvPr/>
        </p:nvSpPr>
        <p:spPr>
          <a:xfrm>
            <a:off x="1234440" y="4426204"/>
            <a:ext cx="7772400" cy="210312"/>
          </a:xfrm>
          <a:prstGeom prst="roundRect">
            <a:avLst>
              <a:gd name="adj" fmla="val 21739"/>
            </a:avLst>
          </a:prstGeom>
          <a:solidFill>
            <a:srgbClr val="1C293C"/>
          </a:solidFill>
          <a:ln/>
        </p:spPr>
      </p:sp>
      <p:sp>
        <p:nvSpPr>
          <p:cNvPr id="23" name="Text 20"/>
          <p:cNvSpPr/>
          <p:nvPr/>
        </p:nvSpPr>
        <p:spPr>
          <a:xfrm>
            <a:off x="1325880" y="4426204"/>
            <a:ext cx="7589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cbi0204-biobank.onrender.com/inventory</a:t>
            </a:r>
            <a:endParaRPr lang="en-US" sz="950" dirty="0"/>
          </a:p>
        </p:txBody>
      </p:sp>
      <p:pic>
        <p:nvPicPr>
          <p:cNvPr id="24" name="Image 1" descr="/home/claude/shots/inventor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4686808"/>
            <a:ext cx="8778240" cy="14020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Biobank &amp; Biospecimen Management System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Demonstration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walkthrough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5760" cy="365760"/>
          </a:xfrm>
          <a:prstGeom prst="ellipse">
            <a:avLst/>
          </a:prstGeom>
          <a:solidFill>
            <a:srgbClr val="10182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74650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clean database and run the scripts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365760" cy="365760"/>
          </a:xfrm>
          <a:prstGeom prst="ellipse">
            <a:avLst/>
          </a:prstGeom>
          <a:solidFill>
            <a:srgbClr val="10182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50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3134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table structure and sample data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16936"/>
            <a:ext cx="365760" cy="365760"/>
          </a:xfrm>
          <a:prstGeom prst="ellipse">
            <a:avLst/>
          </a:prstGeom>
          <a:solidFill>
            <a:srgbClr val="10182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16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8803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join and an aggregation query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483864"/>
            <a:ext cx="365760" cy="365760"/>
          </a:xfrm>
          <a:prstGeom prst="ellipse">
            <a:avLst/>
          </a:prstGeom>
          <a:solidFill>
            <a:srgbClr val="10182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83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44728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both views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050792"/>
            <a:ext cx="365760" cy="365760"/>
          </a:xfrm>
          <a:prstGeom prst="ellipse">
            <a:avLst/>
          </a:prstGeom>
          <a:solidFill>
            <a:srgbClr val="101827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050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01421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 valid sample usage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365760" cy="365760"/>
          </a:xfrm>
          <a:prstGeom prst="ellipse">
            <a:avLst/>
          </a:prstGeom>
          <a:solidFill>
            <a:srgbClr val="101827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458114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an invalid over-volume usage and show the trigger error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09360" y="1325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walkthrough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178308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12280" y="174650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cbi0204-biobank.onrender.com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09360" y="2350008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2350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12280" y="231343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the dashboard metrics and recent specimens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09360" y="2916936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2916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12280" y="2880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donor and a sample through the UI forms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09360" y="3483864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3483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12280" y="344728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test request as a researcher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309360" y="4050792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4050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12280" y="401421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valid sample usage — watch the volume update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309360" y="461772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0" name="Text 38"/>
          <p:cNvSpPr/>
          <p:nvPr/>
        </p:nvSpPr>
        <p:spPr>
          <a:xfrm>
            <a:off x="630936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12280" y="458114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8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an over-volume usage and show the live error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Biobank &amp; Biospecimen Management System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2377440"/>
            <a:ext cx="5486400" cy="5486400"/>
          </a:xfrm>
          <a:prstGeom prst="ellipse">
            <a:avLst/>
          </a:prstGeom>
          <a:solidFill>
            <a:srgbClr val="1C293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database that works, on paper and in production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2212848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Satisfies every core CBIO204 requirement: conceptual modeling, relational mapping, 3NF, implementation, SQL operations, views, an advanced database object, and testing.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154680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3081528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further with a deployed web application on Render that exercises the same schema and the same business rules through a real browser UI.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023360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17320" y="3950208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live: valid and invalid sample-usage scenarios both behave exactly as the trigger design intends.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5074920"/>
            <a:ext cx="10515600" cy="0"/>
          </a:xfrm>
          <a:prstGeom prst="line">
            <a:avLst/>
          </a:prstGeom>
          <a:noFill/>
          <a:ln w="12700">
            <a:solidFill>
              <a:srgbClr val="2A3B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257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6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authentication, richer analytics dashboards, and audit-logged consent history for full regulatory traceability.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6172200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61722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cbi0204-biobank.onrender.com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0" y="62910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Nadien Ahmed Shawky  ·  ID 221002162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2026-08-15T21:43:50Z</dcterms:created>
  <dcterms:modified xsi:type="dcterms:W3CDTF">2026-08-15T21:43:50Z</dcterms:modified>
</cp:coreProperties>
</file>